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72" r:id="rId4"/>
    <p:sldId id="271" r:id="rId5"/>
    <p:sldId id="273" r:id="rId6"/>
    <p:sldId id="275" r:id="rId7"/>
    <p:sldId id="274" r:id="rId8"/>
    <p:sldId id="262" r:id="rId9"/>
    <p:sldId id="276" r:id="rId10"/>
    <p:sldId id="277" r:id="rId11"/>
    <p:sldId id="279" r:id="rId12"/>
    <p:sldId id="263" r:id="rId13"/>
    <p:sldId id="280" r:id="rId14"/>
    <p:sldId id="264" r:id="rId15"/>
    <p:sldId id="281" r:id="rId16"/>
    <p:sldId id="265" r:id="rId17"/>
    <p:sldId id="287" r:id="rId18"/>
    <p:sldId id="285" r:id="rId19"/>
    <p:sldId id="286" r:id="rId20"/>
    <p:sldId id="288" r:id="rId21"/>
    <p:sldId id="290" r:id="rId22"/>
    <p:sldId id="291" r:id="rId23"/>
    <p:sldId id="267" r:id="rId24"/>
    <p:sldId id="282" r:id="rId25"/>
    <p:sldId id="283" r:id="rId26"/>
    <p:sldId id="268" r:id="rId27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97FF"/>
    <a:srgbClr val="005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Capobianco Lopes" userId="e2602793-81ee-4f40-ac4e-f7a7f9d1e175" providerId="ADAL" clId="{7F704396-5C0A-4773-8443-574AD5DF6845}"/>
    <pc:docChg chg="modSld">
      <pc:chgData name="Mauricio Capobianco Lopes" userId="e2602793-81ee-4f40-ac4e-f7a7f9d1e175" providerId="ADAL" clId="{7F704396-5C0A-4773-8443-574AD5DF6845}" dt="2020-02-27T15:12:44.677" v="4" actId="20577"/>
      <pc:docMkLst>
        <pc:docMk/>
      </pc:docMkLst>
      <pc:sldChg chg="modSp">
        <pc:chgData name="Mauricio Capobianco Lopes" userId="e2602793-81ee-4f40-ac4e-f7a7f9d1e175" providerId="ADAL" clId="{7F704396-5C0A-4773-8443-574AD5DF6845}" dt="2020-02-27T15:12:35.257" v="1" actId="20577"/>
        <pc:sldMkLst>
          <pc:docMk/>
          <pc:sldMk cId="2489010789" sldId="261"/>
        </pc:sldMkLst>
        <pc:spChg chg="mod">
          <ac:chgData name="Mauricio Capobianco Lopes" userId="e2602793-81ee-4f40-ac4e-f7a7f9d1e175" providerId="ADAL" clId="{7F704396-5C0A-4773-8443-574AD5DF6845}" dt="2020-02-27T15:12:35.257" v="1" actId="20577"/>
          <ac:spMkLst>
            <pc:docMk/>
            <pc:sldMk cId="2489010789" sldId="261"/>
            <ac:spMk id="3" creationId="{00000000-0000-0000-0000-000000000000}"/>
          </ac:spMkLst>
        </pc:spChg>
      </pc:sldChg>
      <pc:sldChg chg="modSp">
        <pc:chgData name="Mauricio Capobianco Lopes" userId="e2602793-81ee-4f40-ac4e-f7a7f9d1e175" providerId="ADAL" clId="{7F704396-5C0A-4773-8443-574AD5DF6845}" dt="2020-02-27T15:12:44.677" v="4" actId="20577"/>
        <pc:sldMkLst>
          <pc:docMk/>
          <pc:sldMk cId="1958979546" sldId="262"/>
        </pc:sldMkLst>
        <pc:spChg chg="mod">
          <ac:chgData name="Mauricio Capobianco Lopes" userId="e2602793-81ee-4f40-ac4e-f7a7f9d1e175" providerId="ADAL" clId="{7F704396-5C0A-4773-8443-574AD5DF6845}" dt="2020-02-27T15:12:44.677" v="4" actId="20577"/>
          <ac:spMkLst>
            <pc:docMk/>
            <pc:sldMk cId="1958979546" sldId="262"/>
            <ac:spMk id="3" creationId="{00000000-0000-0000-0000-000000000000}"/>
          </ac:spMkLst>
        </pc:spChg>
      </pc:sldChg>
    </pc:docChg>
  </pc:docChgLst>
  <pc:docChgLst>
    <pc:chgData name="Mauricio Capobianco Lopes" userId="e2602793-81ee-4f40-ac4e-f7a7f9d1e175" providerId="ADAL" clId="{5E4B7503-6885-43C1-8A95-77DFDBD689BD}"/>
    <pc:docChg chg="custSel modSld">
      <pc:chgData name="Mauricio Capobianco Lopes" userId="e2602793-81ee-4f40-ac4e-f7a7f9d1e175" providerId="ADAL" clId="{5E4B7503-6885-43C1-8A95-77DFDBD689BD}" dt="2019-11-21T21:38:28.451" v="70" actId="20577"/>
      <pc:docMkLst>
        <pc:docMk/>
      </pc:docMkLst>
      <pc:sldChg chg="modSp">
        <pc:chgData name="Mauricio Capobianco Lopes" userId="e2602793-81ee-4f40-ac4e-f7a7f9d1e175" providerId="ADAL" clId="{5E4B7503-6885-43C1-8A95-77DFDBD689BD}" dt="2019-11-21T21:38:28.451" v="70" actId="20577"/>
        <pc:sldMkLst>
          <pc:docMk/>
          <pc:sldMk cId="2007070856" sldId="264"/>
        </pc:sldMkLst>
        <pc:spChg chg="mod">
          <ac:chgData name="Mauricio Capobianco Lopes" userId="e2602793-81ee-4f40-ac4e-f7a7f9d1e175" providerId="ADAL" clId="{5E4B7503-6885-43C1-8A95-77DFDBD689BD}" dt="2019-11-21T21:38:28.451" v="70" actId="20577"/>
          <ac:spMkLst>
            <pc:docMk/>
            <pc:sldMk cId="2007070856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A49CD-4003-4CE2-847C-67B5D8B6D558}" type="datetimeFigureOut">
              <a:rPr lang="pt-BR" smtClean="0"/>
              <a:t>09/12/2024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60396-2256-4541-B5A4-515F8AC905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85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1D9B88D7-4A6A-8B15-544F-7278F614E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914C7834-69DD-49B2-7ECA-E0EA8AE4C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pt-BR" altLang="pt-BR"/>
              <a:t>ok</a:t>
            </a:r>
            <a:endParaRPr lang="en-US" altLang="pt-BR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541295AD-7D4E-A541-4D6E-16B8D9E969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05514-E54B-4033-9079-DFE63654A297}" type="slidenum">
              <a:rPr lang="en-US" altLang="pt-BR"/>
              <a:pPr/>
              <a:t>4</a:t>
            </a:fld>
            <a:endParaRPr lang="en-US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51E00-8267-4604-A477-06D690F3831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20"/>
          </a:xfrm>
        </p:spPr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8E297-6CBE-4718-A55E-559A2615A1B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6A142-61B5-4E3D-90E3-37CCCA5B8200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46EF70-771F-4125-BD92-2CF85D34D26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55F65-09CC-47BE-B43C-09A283D2E9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2316F-EB17-4252-8A8C-611AED72FBAB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138E0-A9D7-4867-995F-585EB895710D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F3198-B843-4265-ABF0-65946D3BF37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879FC-8726-479C-A2CE-57C987F54908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B5B2E-7B09-42BA-B78A-718198AF402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A41635-D202-4D10-8FA9-DA258B96F66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277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F5D6D9-064D-480F-AE44-1D22C9D85F98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536" y="1340768"/>
            <a:ext cx="8352928" cy="1470025"/>
          </a:xfrm>
        </p:spPr>
        <p:txBody>
          <a:bodyPr/>
          <a:lstStyle/>
          <a:p>
            <a:r>
              <a:rPr lang="pt-BR" dirty="0"/>
              <a:t>APLICATIVO DE CONSCIENTIZAÇÃO NO TRÂNSITO UTILIZANDO REALIDADE AUMENTADA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5576" y="3933056"/>
            <a:ext cx="7232848" cy="1752600"/>
          </a:xfrm>
        </p:spPr>
        <p:txBody>
          <a:bodyPr>
            <a:normAutofit fontScale="92500"/>
          </a:bodyPr>
          <a:lstStyle/>
          <a:p>
            <a:r>
              <a:rPr lang="pt-BR" dirty="0"/>
              <a:t>Aluno(a): Gabriel </a:t>
            </a:r>
            <a:r>
              <a:rPr lang="pt-BR" dirty="0" err="1"/>
              <a:t>Ossamu</a:t>
            </a:r>
            <a:r>
              <a:rPr lang="pt-BR" dirty="0"/>
              <a:t> </a:t>
            </a:r>
            <a:r>
              <a:rPr lang="pt-BR" dirty="0" err="1"/>
              <a:t>Ropelatto</a:t>
            </a:r>
            <a:r>
              <a:rPr lang="pt-BR" dirty="0"/>
              <a:t> Mori</a:t>
            </a:r>
          </a:p>
          <a:p>
            <a:endParaRPr lang="pt-BR" dirty="0"/>
          </a:p>
          <a:p>
            <a:r>
              <a:rPr lang="pt-BR" dirty="0"/>
              <a:t>Orientador: Dalton Solano dos Reis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Introdução</a:t>
            </a:r>
          </a:p>
          <a:p>
            <a:r>
              <a:rPr lang="pt-BR" dirty="0"/>
              <a:t>Objetivos</a:t>
            </a:r>
          </a:p>
          <a:p>
            <a:r>
              <a:rPr lang="pt-BR" dirty="0"/>
              <a:t>Fundamentação Teórica</a:t>
            </a:r>
          </a:p>
          <a:p>
            <a:r>
              <a:rPr lang="pt-BR" dirty="0"/>
              <a:t>Trabalhos Correlatos</a:t>
            </a:r>
          </a:p>
          <a:p>
            <a:r>
              <a:rPr lang="pt-BR" dirty="0"/>
              <a:t>Requisitos</a:t>
            </a:r>
          </a:p>
          <a:p>
            <a:r>
              <a:rPr lang="pt-BR" dirty="0"/>
              <a:t>Especificação </a:t>
            </a:r>
          </a:p>
          <a:p>
            <a:r>
              <a:rPr lang="pt-BR" dirty="0"/>
              <a:t>Implementação </a:t>
            </a:r>
          </a:p>
          <a:p>
            <a:r>
              <a:rPr lang="pt-BR" dirty="0"/>
              <a:t>Análise dos Resultados </a:t>
            </a:r>
          </a:p>
          <a:p>
            <a:r>
              <a:rPr lang="pt-BR" dirty="0"/>
              <a:t>Conclusões e Sugestões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99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7462-1DE6-AB07-4339-3D79470F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229A4-2800-63D7-5139-FAD51C34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D6A1D-9EB0-EB32-EEAC-89363A6D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Trânsito brasileiro</a:t>
            </a:r>
          </a:p>
          <a:p>
            <a:r>
              <a:rPr lang="pt-BR" dirty="0"/>
              <a:t>Acidente de trânsito</a:t>
            </a:r>
          </a:p>
          <a:p>
            <a:r>
              <a:rPr lang="pt-BR" dirty="0"/>
              <a:t>Principal causa de acidente no trânsito</a:t>
            </a:r>
          </a:p>
          <a:p>
            <a:r>
              <a:rPr lang="pt-BR" dirty="0"/>
              <a:t>Educação</a:t>
            </a:r>
          </a:p>
          <a:p>
            <a:r>
              <a:rPr lang="pt-BR" dirty="0"/>
              <a:t>Simulador de autoescola</a:t>
            </a:r>
          </a:p>
          <a:p>
            <a:r>
              <a:rPr lang="pt-BR" dirty="0"/>
              <a:t>Métodos tradicionais de ensino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363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>
            <a:extLst>
              <a:ext uri="{FF2B5EF4-FFF2-40B4-BE49-F238E27FC236}">
                <a16:creationId xmlns:a16="http://schemas.microsoft.com/office/drawing/2014/main" id="{576CC79C-1703-0134-382A-E886D26A4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Objetivos</a:t>
            </a:r>
          </a:p>
        </p:txBody>
      </p:sp>
      <p:sp>
        <p:nvSpPr>
          <p:cNvPr id="6147" name="Espaço Reservado para Conteúdo 2">
            <a:extLst>
              <a:ext uri="{FF2B5EF4-FFF2-40B4-BE49-F238E27FC236}">
                <a16:creationId xmlns:a16="http://schemas.microsoft.com/office/drawing/2014/main" id="{DD33A110-F41F-E9DD-B5BD-400F54127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AutoNum type="alphaLcParenR"/>
              <a:tabLst>
                <a:tab pos="682625" algn="l"/>
              </a:tabLst>
            </a:pP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ambiente em realidade aumentada simulando o trânsito de uma cidade;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AutoNum type="alphaLcParenR"/>
              <a:tabLst>
                <a:tab pos="682625" algn="l"/>
              </a:tabLst>
            </a:pP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Instruir e conscientizar o usuário baseado nas suas ações tomadas respeitando as leis do trânsito;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Tx/>
              <a:buAutoNum type="alphaLcParenR"/>
              <a:tabLst>
                <a:tab pos="682625" algn="l"/>
              </a:tabLst>
            </a:pPr>
            <a:r>
              <a:rPr lang="pt-B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Analisar a possibilidade de usar o aplicativo como uma ferramenta educacional.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tabLst>
                <a:tab pos="682625" algn="l"/>
              </a:tabLst>
            </a:pPr>
            <a:endParaRPr lang="pt-BR" altLang="pt-B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A79D-188B-AD3D-FD5D-A0E5F6C5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D9DE9-0CAE-5B53-8BEB-CF6CBD82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4E1EAC-4190-11B1-23C4-5084C396B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Garante a segurança em vias públicas;</a:t>
            </a:r>
          </a:p>
          <a:p>
            <a:r>
              <a:rPr lang="pt-BR" dirty="0"/>
              <a:t>Quanto antes ensinado, melhor;</a:t>
            </a:r>
          </a:p>
          <a:p>
            <a:r>
              <a:rPr lang="pt-BR" dirty="0"/>
              <a:t>O código de Trânsito Brasileiro prevê a educação de trânsito nas escolas;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8B1035D-511A-4428-A486-E3D25BEFF95F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Educação no trânsito</a:t>
            </a:r>
          </a:p>
        </p:txBody>
      </p:sp>
    </p:spTree>
    <p:extLst>
      <p:ext uri="{BB962C8B-B14F-4D97-AF65-F5344CB8AC3E}">
        <p14:creationId xmlns:p14="http://schemas.microsoft.com/office/powerpoint/2010/main" val="380545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A00C8-902D-CE05-97F0-C2DA0DEEC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19C2AA-4539-E426-F12D-374BF9657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680520"/>
          </a:xfrm>
        </p:spPr>
        <p:txBody>
          <a:bodyPr/>
          <a:lstStyle/>
          <a:p>
            <a:r>
              <a:rPr lang="pt-BR" dirty="0"/>
              <a:t>Novo meio de ensino</a:t>
            </a:r>
          </a:p>
          <a:p>
            <a:r>
              <a:rPr lang="pt-BR" dirty="0"/>
              <a:t>Avanço da tecnologia</a:t>
            </a:r>
          </a:p>
          <a:p>
            <a:r>
              <a:rPr lang="pt-BR" dirty="0"/>
              <a:t>Vantagens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90C75B0-27A7-4835-6915-3944D2A7B925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dirty="0"/>
              <a:t>Jogos educativos</a:t>
            </a:r>
            <a:endParaRPr lang="pt-BR" sz="2400" kern="0" dirty="0"/>
          </a:p>
        </p:txBody>
      </p:sp>
    </p:spTree>
    <p:extLst>
      <p:ext uri="{BB962C8B-B14F-4D97-AF65-F5344CB8AC3E}">
        <p14:creationId xmlns:p14="http://schemas.microsoft.com/office/powerpoint/2010/main" val="270580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F43C-819D-928C-728F-9B849E7C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1A68C-91A4-09F6-4C64-B4359F63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B5E259-A402-205A-9CA7-57FF6BA4F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é?;</a:t>
            </a:r>
          </a:p>
          <a:p>
            <a:r>
              <a:rPr lang="pt-BR" dirty="0"/>
              <a:t>Utilidade;</a:t>
            </a:r>
          </a:p>
          <a:p>
            <a:r>
              <a:rPr lang="pt-BR" dirty="0"/>
              <a:t>Tipo de realidade;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315AD99-1697-F97A-5090-2D17662433AB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Realidade Aumentada</a:t>
            </a:r>
          </a:p>
        </p:txBody>
      </p:sp>
    </p:spTree>
    <p:extLst>
      <p:ext uri="{BB962C8B-B14F-4D97-AF65-F5344CB8AC3E}">
        <p14:creationId xmlns:p14="http://schemas.microsoft.com/office/powerpoint/2010/main" val="427730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 1/4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E7B56D6-F8FC-4D5D-5CB7-D6D435343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Título: </a:t>
            </a:r>
            <a:r>
              <a:rPr lang="pt-BR" dirty="0" err="1"/>
              <a:t>TransitAR</a:t>
            </a:r>
            <a:r>
              <a:rPr lang="pt-BR" dirty="0"/>
              <a:t>: conscientização sobre trânsito usando realidade aumentada.</a:t>
            </a:r>
          </a:p>
          <a:p>
            <a:r>
              <a:rPr lang="pt-BR" dirty="0"/>
              <a:t>BUZZI (2018)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87A2E6A-2094-8C19-1D68-319BE9E8D604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 </a:t>
            </a:r>
          </a:p>
        </p:txBody>
      </p:sp>
      <p:pic>
        <p:nvPicPr>
          <p:cNvPr id="13" name="Imagem 12" descr="Uma imagem contendo relógio, homem, segurando, computador&#10;&#10;Descrição gerada automaticamente">
            <a:extLst>
              <a:ext uri="{FF2B5EF4-FFF2-40B4-BE49-F238E27FC236}">
                <a16:creationId xmlns:a16="http://schemas.microsoft.com/office/drawing/2014/main" id="{CA32A3E7-7AF6-60C1-CB94-99825A3E0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66" y="3140968"/>
            <a:ext cx="5693555" cy="31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7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803D8-BEF3-1EF1-2F7D-C10A097B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503E-12F3-2A6F-638D-8D23F8A5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 2/4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8AA0EC8-E6A4-0E8E-84C6-A850F4B36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Título: Validação de simuladores de condução </a:t>
            </a:r>
            <a:r>
              <a:rPr lang="pt-BR" dirty="0" err="1"/>
              <a:t>low-cost</a:t>
            </a:r>
            <a:r>
              <a:rPr lang="pt-BR" dirty="0"/>
              <a:t> baseados em jogos sérios usando Heads-</a:t>
            </a:r>
            <a:r>
              <a:rPr lang="pt-BR" dirty="0" err="1"/>
              <a:t>Up</a:t>
            </a:r>
            <a:r>
              <a:rPr lang="pt-BR" dirty="0"/>
              <a:t> Display: estudo de caso com simulação de dispositivos </a:t>
            </a:r>
            <a:r>
              <a:rPr lang="pt-BR" dirty="0" err="1"/>
              <a:t>in-glass</a:t>
            </a:r>
            <a:r>
              <a:rPr lang="pt-BR" dirty="0"/>
              <a:t>.</a:t>
            </a:r>
          </a:p>
          <a:p>
            <a:r>
              <a:rPr lang="pt-BR" dirty="0"/>
              <a:t>Alves (2014)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BA6715-27E0-099F-DC2B-91D44FD4761B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 </a:t>
            </a:r>
          </a:p>
        </p:txBody>
      </p:sp>
      <p:pic>
        <p:nvPicPr>
          <p:cNvPr id="5" name="Imagem 4" descr="Tela de um computador&#10;&#10;Descrição gerada automaticamente com confiança média">
            <a:extLst>
              <a:ext uri="{FF2B5EF4-FFF2-40B4-BE49-F238E27FC236}">
                <a16:creationId xmlns:a16="http://schemas.microsoft.com/office/drawing/2014/main" id="{79F533A1-331C-9BBD-2EB3-BCF7D73CA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4571464"/>
            <a:ext cx="2177415" cy="1775460"/>
          </a:xfrm>
          <a:prstGeom prst="rect">
            <a:avLst/>
          </a:prstGeom>
        </p:spPr>
      </p:pic>
      <p:pic>
        <p:nvPicPr>
          <p:cNvPr id="6" name="Imagem 5" descr="Diagrama, Desenho técnico&#10;&#10;Descrição gerada automaticamente">
            <a:extLst>
              <a:ext uri="{FF2B5EF4-FFF2-40B4-BE49-F238E27FC236}">
                <a16:creationId xmlns:a16="http://schemas.microsoft.com/office/drawing/2014/main" id="{21B441F3-9C6C-48B9-6921-3B8BB9D77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002" y="4571464"/>
            <a:ext cx="2887980" cy="17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2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71CF-9040-B828-A65F-91681221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9112C-083E-DB08-2617-480FAFE1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 3/4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A39B0ED-C2B5-1DB6-953A-06ABE1918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Título: Unity 3D </a:t>
            </a:r>
            <a:r>
              <a:rPr lang="pt-BR" dirty="0" err="1"/>
              <a:t>production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environmental</a:t>
            </a:r>
            <a:r>
              <a:rPr lang="pt-BR" dirty="0"/>
              <a:t> </a:t>
            </a:r>
            <a:r>
              <a:rPr lang="pt-BR" dirty="0" err="1"/>
              <a:t>perception</a:t>
            </a:r>
            <a:r>
              <a:rPr lang="pt-BR" dirty="0"/>
              <a:t> </a:t>
            </a:r>
            <a:r>
              <a:rPr lang="pt-BR" dirty="0" err="1"/>
              <a:t>vehicle</a:t>
            </a:r>
            <a:r>
              <a:rPr lang="pt-BR" dirty="0"/>
              <a:t> </a:t>
            </a:r>
            <a:r>
              <a:rPr lang="pt-BR" dirty="0" err="1"/>
              <a:t>simulation</a:t>
            </a:r>
            <a:r>
              <a:rPr lang="pt-BR" dirty="0"/>
              <a:t> </a:t>
            </a:r>
            <a:r>
              <a:rPr lang="pt-BR" dirty="0" err="1"/>
              <a:t>platform</a:t>
            </a:r>
            <a:r>
              <a:rPr lang="pt-BR" dirty="0"/>
              <a:t>.</a:t>
            </a:r>
          </a:p>
          <a:p>
            <a:r>
              <a:rPr lang="pt-BR" dirty="0"/>
              <a:t>Yang et al. (2016)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247FCC9-2919-EDBB-3918-F6BEAFCD4ED5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 </a:t>
            </a:r>
          </a:p>
        </p:txBody>
      </p:sp>
      <p:pic>
        <p:nvPicPr>
          <p:cNvPr id="3" name="Imagem 2" descr="Computador em cima da mesa&#10;&#10;Descrição gerada automaticamente">
            <a:extLst>
              <a:ext uri="{FF2B5EF4-FFF2-40B4-BE49-F238E27FC236}">
                <a16:creationId xmlns:a16="http://schemas.microsoft.com/office/drawing/2014/main" id="{250E8E75-F750-0D3C-2C6B-72EC86D01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750578"/>
            <a:ext cx="4565650" cy="22510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5410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3EEC-6339-F958-D917-FB1669C9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2AE8A-42C3-D39E-FDE5-B542D98F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Trabalhos Correlatos 4/4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DEE4A36-90DE-39AF-E2BA-E0F0B3D7F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Título: ROTAVR: JOGO DE CONSCIENTIZAÇÃO NO TRÂNSITO UTILIZANDO A REALIDADE VIRTUAL IMERSIVA.</a:t>
            </a:r>
          </a:p>
          <a:p>
            <a:r>
              <a:rPr lang="pt-BR" dirty="0" err="1"/>
              <a:t>Fibrantz</a:t>
            </a:r>
            <a:r>
              <a:rPr lang="pt-BR" dirty="0"/>
              <a:t> (2023)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9CBC972-9E65-F473-9800-522D5E93457B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 </a:t>
            </a:r>
          </a:p>
        </p:txBody>
      </p:sp>
      <p:pic>
        <p:nvPicPr>
          <p:cNvPr id="4" name="Imagem 3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3EF896A3-5169-12B3-73F0-17C08BBD2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72" y="4221088"/>
            <a:ext cx="4584143" cy="22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7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1D67153-BDF5-802F-7CC1-390B6CC0C386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Requisitos Funcionais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85CD236-5341-C89F-BEDF-D49022B0C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392488"/>
          </a:xfrm>
        </p:spPr>
        <p:txBody>
          <a:bodyPr>
            <a:noAutofit/>
          </a:bodyPr>
          <a:lstStyle/>
          <a:p>
            <a:r>
              <a:rPr lang="pt-BR" sz="2000" dirty="0"/>
              <a:t>RF01: permitir o usuário colocar e tirar o cinto.</a:t>
            </a:r>
          </a:p>
          <a:p>
            <a:r>
              <a:rPr lang="pt-BR" sz="2000" dirty="0"/>
              <a:t>RF02: permitir o usuário a pilotar o carro livremente pela rua.</a:t>
            </a:r>
          </a:p>
          <a:p>
            <a:r>
              <a:rPr lang="pt-BR" sz="2000" dirty="0"/>
              <a:t>RF03: mostrar mensagens avisando quando o usuário infringiu a alguma lei de trânsito.</a:t>
            </a:r>
          </a:p>
          <a:p>
            <a:r>
              <a:rPr lang="pt-BR" sz="2000" dirty="0"/>
              <a:t>RF04: diminuir a barra de vida do automóvel conforme o usuário bate o carro.</a:t>
            </a:r>
          </a:p>
          <a:p>
            <a:r>
              <a:rPr lang="pt-BR" sz="2000" dirty="0"/>
              <a:t>RF05: diminuir a barra de combustível conforme anda.</a:t>
            </a:r>
          </a:p>
          <a:p>
            <a:r>
              <a:rPr lang="pt-BR" sz="2000" dirty="0"/>
              <a:t>RF06: diminuir a barra de lei conforme o usuário infringe uma lei.</a:t>
            </a:r>
          </a:p>
          <a:p>
            <a:r>
              <a:rPr lang="pt-BR" sz="2000" dirty="0"/>
              <a:t>RF07: permitir o usuário acelerar e frear o carro em pedais dispostos na tela.</a:t>
            </a:r>
          </a:p>
          <a:p>
            <a:r>
              <a:rPr lang="pt-BR" sz="2000" dirty="0"/>
              <a:t>RF08: fazer barulho sempre que o usuário estiver sem cinto.</a:t>
            </a:r>
          </a:p>
          <a:p>
            <a:r>
              <a:rPr lang="pt-BR" sz="2000" dirty="0"/>
              <a:t>RF09: disponibilizar um posto de gasolina para abastecer o carro.</a:t>
            </a:r>
          </a:p>
          <a:p>
            <a:r>
              <a:rPr lang="pt-BR" sz="2000" dirty="0"/>
              <a:t>RF10: disponibilizar locais onde o jogador deve parar o carro.</a:t>
            </a:r>
          </a:p>
          <a:p>
            <a:r>
              <a:rPr lang="pt-BR" sz="2000" dirty="0"/>
              <a:t>RF11: disponibilizar semáforos funcionais.</a:t>
            </a:r>
          </a:p>
        </p:txBody>
      </p:sp>
    </p:spTree>
    <p:extLst>
      <p:ext uri="{BB962C8B-B14F-4D97-AF65-F5344CB8AC3E}">
        <p14:creationId xmlns:p14="http://schemas.microsoft.com/office/powerpoint/2010/main" val="199764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31AB-DB39-4455-E559-9CCA8CAA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2C1C7-ECBE-6B75-67FF-AA9ECBB3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A5C280-F396-F63E-FF15-CDFF512B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RNF01: ser desenvolvido para a plataforma Android a partir da versão 10.</a:t>
            </a:r>
          </a:p>
          <a:p>
            <a:r>
              <a:rPr lang="pt-BR" dirty="0"/>
              <a:t>RNF02: utilizar o motor de jogos Unity.</a:t>
            </a:r>
          </a:p>
          <a:p>
            <a:r>
              <a:rPr lang="pt-BR" dirty="0"/>
              <a:t>RNF03: utilizar a linguagem C# para o desenvolvimento do jogo.</a:t>
            </a:r>
          </a:p>
          <a:p>
            <a:r>
              <a:rPr lang="pt-BR" dirty="0"/>
              <a:t>RNF04: ter uma interface intuitiva.</a:t>
            </a:r>
          </a:p>
          <a:p>
            <a:r>
              <a:rPr lang="pt-BR" dirty="0"/>
              <a:t>RNF05: não precisa de conexão com internet.</a:t>
            </a:r>
          </a:p>
          <a:p>
            <a:r>
              <a:rPr lang="pt-BR" dirty="0"/>
              <a:t>RNF06: tempo de resposta rápida para os comandos.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2A92190-5000-2D7E-536C-70E4B2158913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274665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pic>
        <p:nvPicPr>
          <p:cNvPr id="4" name="Espaço Reservado para Conteúdo 3" descr="Diagrama&#10;&#10;Descrição gerada automaticamente">
            <a:extLst>
              <a:ext uri="{FF2B5EF4-FFF2-40B4-BE49-F238E27FC236}">
                <a16:creationId xmlns:a16="http://schemas.microsoft.com/office/drawing/2014/main" id="{81750ECE-0430-1001-0499-DD3D218A2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68651"/>
            <a:ext cx="8229600" cy="2568398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EC509E5-ACCC-0C9B-E6E1-4DA6D2E1D4E2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Diagrama modos de jogo</a:t>
            </a:r>
          </a:p>
        </p:txBody>
      </p:sp>
    </p:spTree>
    <p:extLst>
      <p:ext uri="{BB962C8B-B14F-4D97-AF65-F5344CB8AC3E}">
        <p14:creationId xmlns:p14="http://schemas.microsoft.com/office/powerpoint/2010/main" val="200707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5751C-254D-F482-961F-EB66F880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54763-EDC1-1A9D-1C9B-476E1D28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CE08BF-27D9-42B8-6DE2-B0FB14434ECB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Diagrama Vidas do jogo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D93A8308-251B-434A-62F9-10E4A801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E516C6A-F82D-619B-20DF-4A337C77E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8" y="1556792"/>
            <a:ext cx="8202468" cy="422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pic>
        <p:nvPicPr>
          <p:cNvPr id="6" name="Espaço Reservado para Conteúdo 5" descr="Texto&#10;&#10;Descrição gerada automaticamente">
            <a:extLst>
              <a:ext uri="{FF2B5EF4-FFF2-40B4-BE49-F238E27FC236}">
                <a16:creationId xmlns:a16="http://schemas.microsoft.com/office/drawing/2014/main" id="{DFACEC13-0A8C-2513-8B6E-EB8231442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56792"/>
            <a:ext cx="6552728" cy="4868428"/>
          </a:xfr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6C0B4611-7D35-11BA-4D4A-5C7E958EF2D8}"/>
              </a:ext>
            </a:extLst>
          </p:cNvPr>
          <p:cNvSpPr txBox="1">
            <a:spLocks/>
          </p:cNvSpPr>
          <p:nvPr/>
        </p:nvSpPr>
        <p:spPr bwMode="auto">
          <a:xfrm>
            <a:off x="683568" y="1088740"/>
            <a:ext cx="822960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sz="2400" b="1" kern="0" dirty="0"/>
              <a:t>Script </a:t>
            </a:r>
            <a:r>
              <a:rPr lang="pt-BR" sz="2400" b="1" kern="0" dirty="0" err="1"/>
              <a:t>GameManager</a:t>
            </a:r>
            <a:endParaRPr lang="pt-BR" sz="1800" kern="0" dirty="0"/>
          </a:p>
        </p:txBody>
      </p:sp>
    </p:spTree>
    <p:extLst>
      <p:ext uri="{BB962C8B-B14F-4D97-AF65-F5344CB8AC3E}">
        <p14:creationId xmlns:p14="http://schemas.microsoft.com/office/powerpoint/2010/main" val="3063325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ED2B-3F32-F7BB-6CBC-2C85F5B59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8D110-1414-C13C-80F3-A4F36B4C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pic>
        <p:nvPicPr>
          <p:cNvPr id="10" name="Imagem 9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7B5CE492-2F06-B65B-CFDD-24B22D2E2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9" y="1700808"/>
            <a:ext cx="8236681" cy="3096344"/>
          </a:xfrm>
          <a:prstGeom prst="rect">
            <a:avLst/>
          </a:prstGeom>
        </p:spPr>
      </p:pic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6776C657-D39F-A676-1744-55A6DF435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680520"/>
          </a:xfrm>
        </p:spPr>
        <p:txBody>
          <a:bodyPr>
            <a:normAutofit/>
          </a:bodyPr>
          <a:lstStyle/>
          <a:p>
            <a:r>
              <a:rPr lang="pt-BR" sz="2400" b="1" dirty="0"/>
              <a:t>Script </a:t>
            </a:r>
            <a:r>
              <a:rPr lang="pt-BR" sz="2400" b="1" dirty="0" err="1"/>
              <a:t>Singleton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648757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8E7D-5BB2-72AA-2849-7F6E26774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2418B-48D1-101B-6AF9-57970DE2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890FAC1-8F72-F54F-5A53-30B87BCB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56" y="1267099"/>
            <a:ext cx="8229600" cy="4680520"/>
          </a:xfrm>
        </p:spPr>
        <p:txBody>
          <a:bodyPr/>
          <a:lstStyle/>
          <a:p>
            <a:r>
              <a:rPr lang="pt-BR" sz="3200" b="1" dirty="0"/>
              <a:t>Animation</a:t>
            </a:r>
            <a:r>
              <a:rPr lang="pt-BR" sz="3200" dirty="0"/>
              <a:t> </a:t>
            </a:r>
          </a:p>
          <a:p>
            <a:pPr marL="0" indent="0">
              <a:buNone/>
            </a:pPr>
            <a:r>
              <a:rPr lang="pt-BR" sz="2400" dirty="0"/>
              <a:t>- Ferramenta do Unity</a:t>
            </a:r>
          </a:p>
          <a:p>
            <a:pPr marL="0" indent="0">
              <a:buNone/>
            </a:pPr>
            <a:r>
              <a:rPr lang="pt-BR" sz="2400" dirty="0"/>
              <a:t>- Para montar </a:t>
            </a:r>
            <a:r>
              <a:rPr lang="pt-BR" sz="2400" dirty="0" err="1"/>
              <a:t>Cutscene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- </a:t>
            </a:r>
            <a:r>
              <a:rPr lang="pt-BR" sz="2400" dirty="0" err="1"/>
              <a:t>add</a:t>
            </a:r>
            <a:r>
              <a:rPr lang="pt-BR" sz="2400" dirty="0"/>
              <a:t> </a:t>
            </a:r>
            <a:r>
              <a:rPr lang="pt-BR" sz="2400" dirty="0" err="1"/>
              <a:t>keyframe</a:t>
            </a:r>
            <a:r>
              <a:rPr lang="pt-BR" sz="2400" dirty="0"/>
              <a:t>, </a:t>
            </a:r>
            <a:r>
              <a:rPr lang="pt-BR" sz="2400" dirty="0" err="1"/>
              <a:t>add</a:t>
            </a:r>
            <a:r>
              <a:rPr lang="pt-BR" sz="2400" dirty="0"/>
              <a:t> </a:t>
            </a:r>
            <a:r>
              <a:rPr lang="pt-BR" sz="2400" dirty="0" err="1"/>
              <a:t>evente</a:t>
            </a:r>
            <a:endParaRPr lang="pt-BR" sz="2400" dirty="0"/>
          </a:p>
        </p:txBody>
      </p:sp>
      <p:pic>
        <p:nvPicPr>
          <p:cNvPr id="7" name="Imagem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8CC35617-9889-3B52-BDD2-87B4B6C2A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35" y="3356992"/>
            <a:ext cx="8590130" cy="2304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1204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7FC62-5A18-1D87-338F-4CEAD77E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A247-00C5-3639-6404-2CC58E78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9756"/>
            <a:ext cx="8229600" cy="1143000"/>
          </a:xfrm>
        </p:spPr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DB85BB0-54D6-0F05-0ED1-8D665E02D4B6}"/>
              </a:ext>
            </a:extLst>
          </p:cNvPr>
          <p:cNvSpPr txBox="1">
            <a:spLocks/>
          </p:cNvSpPr>
          <p:nvPr/>
        </p:nvSpPr>
        <p:spPr bwMode="auto">
          <a:xfrm>
            <a:off x="488066" y="764704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Movimentação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69C774B-0885-CC7A-E1C8-3D5FA81B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066" y="1196752"/>
            <a:ext cx="8229600" cy="5328592"/>
          </a:xfrm>
        </p:spPr>
        <p:txBody>
          <a:bodyPr>
            <a:normAutofit fontScale="92500" lnSpcReduction="20000"/>
          </a:bodyPr>
          <a:lstStyle/>
          <a:p>
            <a:r>
              <a:rPr lang="pt-BR" sz="3000" b="1" dirty="0" err="1"/>
              <a:t>WheelCollider</a:t>
            </a:r>
            <a:r>
              <a:rPr lang="pt-BR" sz="3000" dirty="0"/>
              <a:t> </a:t>
            </a:r>
          </a:p>
          <a:p>
            <a:pPr marL="0" indent="0">
              <a:buNone/>
            </a:pPr>
            <a:r>
              <a:rPr lang="pt-BR" sz="2700" dirty="0"/>
              <a:t>-Nativo Unity;</a:t>
            </a:r>
          </a:p>
          <a:p>
            <a:pPr marL="0" indent="0">
              <a:buNone/>
            </a:pPr>
            <a:r>
              <a:rPr lang="pt-BR" sz="2700" dirty="0"/>
              <a:t>-Colisor focado em veículos terrestres;</a:t>
            </a:r>
          </a:p>
          <a:p>
            <a:pPr marL="0" indent="0">
              <a:buNone/>
            </a:pPr>
            <a:r>
              <a:rPr lang="pt-BR" sz="2700" dirty="0"/>
              <a:t>-Reconhece as entrada via </a:t>
            </a:r>
            <a:r>
              <a:rPr lang="pt-BR" sz="2700" dirty="0" err="1"/>
              <a:t>SimpleInput</a:t>
            </a:r>
            <a:r>
              <a:rPr lang="pt-BR" sz="2700" dirty="0"/>
              <a:t>;</a:t>
            </a:r>
          </a:p>
          <a:p>
            <a:pPr marL="0" indent="0">
              <a:buNone/>
            </a:pPr>
            <a:r>
              <a:rPr lang="pt-BR" sz="2700" dirty="0"/>
              <a:t>-</a:t>
            </a:r>
            <a:r>
              <a:rPr lang="pt-BR" sz="2700" dirty="0" err="1"/>
              <a:t>Assets</a:t>
            </a:r>
            <a:r>
              <a:rPr lang="pt-BR" sz="2700" dirty="0"/>
              <a:t>;</a:t>
            </a:r>
          </a:p>
          <a:p>
            <a:r>
              <a:rPr lang="pt-BR" sz="3000" b="1" dirty="0" err="1"/>
              <a:t>WheelController</a:t>
            </a:r>
            <a:endParaRPr lang="pt-BR" sz="3000" b="1" dirty="0"/>
          </a:p>
          <a:p>
            <a:pPr marL="0" indent="0">
              <a:buNone/>
            </a:pPr>
            <a:r>
              <a:rPr lang="pt-BR" sz="2700" dirty="0"/>
              <a:t>-Controla o </a:t>
            </a:r>
            <a:r>
              <a:rPr lang="pt-BR" sz="2700" dirty="0" err="1"/>
              <a:t>WheelCollider</a:t>
            </a:r>
            <a:r>
              <a:rPr lang="pt-BR" sz="2700" dirty="0"/>
              <a:t>;</a:t>
            </a:r>
          </a:p>
          <a:p>
            <a:pPr marL="0" indent="0">
              <a:buNone/>
            </a:pPr>
            <a:r>
              <a:rPr lang="pt-BR" sz="2700" dirty="0"/>
              <a:t>-Aceleração, freio e curva;</a:t>
            </a:r>
          </a:p>
          <a:p>
            <a:pPr marL="0" indent="0">
              <a:buNone/>
            </a:pPr>
            <a:r>
              <a:rPr lang="pt-BR" sz="2700" dirty="0"/>
              <a:t>-Visuais</a:t>
            </a:r>
          </a:p>
          <a:p>
            <a:r>
              <a:rPr lang="pt-BR" sz="2700" b="1" dirty="0" err="1"/>
              <a:t>NavMeshAgente</a:t>
            </a:r>
            <a:endParaRPr lang="pt-BR" sz="2700" b="1" dirty="0"/>
          </a:p>
          <a:p>
            <a:pPr marL="0" indent="0">
              <a:buNone/>
            </a:pPr>
            <a:r>
              <a:rPr lang="pt-BR" sz="2700" dirty="0"/>
              <a:t>-Limita a movimentação de um determinado objeto;</a:t>
            </a:r>
          </a:p>
          <a:p>
            <a:r>
              <a:rPr lang="pt-BR" sz="2700" b="1" dirty="0" err="1"/>
              <a:t>HandleNavMeshControl</a:t>
            </a:r>
            <a:endParaRPr lang="pt-BR" sz="2700" b="1" dirty="0"/>
          </a:p>
          <a:p>
            <a:pPr marL="0" indent="0">
              <a:buNone/>
            </a:pPr>
            <a:r>
              <a:rPr lang="pt-BR" sz="2700" dirty="0"/>
              <a:t>-Ativa e desativa o </a:t>
            </a:r>
            <a:r>
              <a:rPr lang="pt-BR" sz="2700" dirty="0" err="1"/>
              <a:t>NavMeshAgent</a:t>
            </a:r>
            <a:r>
              <a:rPr lang="pt-BR" sz="2700" dirty="0"/>
              <a:t>;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3793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0358-3943-4227-D167-022D9A58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E63DC-1496-D025-D434-9954E513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FB161-A882-75BA-C4AB-5ADD2646C549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Scripts de trânsito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764873F-E3E6-F7D9-BB8C-C4580807D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80520"/>
          </a:xfrm>
        </p:spPr>
        <p:txBody>
          <a:bodyPr/>
          <a:lstStyle/>
          <a:p>
            <a:r>
              <a:rPr lang="pt-BR" sz="2800" b="1" dirty="0" err="1"/>
              <a:t>TrafficRules</a:t>
            </a:r>
            <a:endParaRPr lang="pt-BR" sz="2800" b="1" dirty="0"/>
          </a:p>
          <a:p>
            <a:pPr>
              <a:buFontTx/>
              <a:buChar char="-"/>
            </a:pPr>
            <a:r>
              <a:rPr lang="pt-BR" sz="2000" dirty="0"/>
              <a:t>Altera as luzes dos </a:t>
            </a:r>
            <a:r>
              <a:rPr lang="pt-BR" sz="2000" dirty="0" err="1"/>
              <a:t>semáfaro</a:t>
            </a:r>
            <a:r>
              <a:rPr lang="pt-BR" sz="2000" dirty="0"/>
              <a:t>;</a:t>
            </a:r>
          </a:p>
          <a:p>
            <a:pPr>
              <a:buFontTx/>
              <a:buChar char="-"/>
            </a:pPr>
            <a:r>
              <a:rPr lang="pt-BR" sz="2000" dirty="0" err="1"/>
              <a:t>TriggerZone</a:t>
            </a:r>
            <a:r>
              <a:rPr lang="pt-BR" sz="2000" dirty="0"/>
              <a:t>;</a:t>
            </a:r>
          </a:p>
          <a:p>
            <a:pPr>
              <a:buFontTx/>
              <a:buChar char="-"/>
            </a:pPr>
            <a:r>
              <a:rPr lang="pt-BR" sz="2000" dirty="0"/>
              <a:t>Tempo para trocar cor do sinal;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CA4423EE-40DA-BEC4-670B-263CE4969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924944"/>
            <a:ext cx="7488832" cy="356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4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B596-54B2-EBAD-7805-DF4042EA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8A1FB-EC08-50A1-D997-D20129E5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F5AD4F0-EC11-9C5C-C4D0-CFF4953325AC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Scripts de trânsito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CAFD289-7099-6E9E-7D94-1FA86112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080120"/>
          </a:xfrm>
        </p:spPr>
        <p:txBody>
          <a:bodyPr/>
          <a:lstStyle/>
          <a:p>
            <a:r>
              <a:rPr lang="pt-BR" sz="2400" b="1" dirty="0"/>
              <a:t>Destination</a:t>
            </a:r>
          </a:p>
          <a:p>
            <a:pPr marL="0" indent="0">
              <a:buNone/>
            </a:pPr>
            <a:r>
              <a:rPr lang="pt-BR" sz="2400" dirty="0"/>
              <a:t>- Gerencia o destino do jogador;</a:t>
            </a:r>
          </a:p>
        </p:txBody>
      </p:sp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DF5A6CAC-774F-2174-2FE4-90B46CE3C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615" y="2276872"/>
            <a:ext cx="6439458" cy="2103302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E08A8F9A-8622-8647-CB96-EB23A35CAB49}"/>
              </a:ext>
            </a:extLst>
          </p:cNvPr>
          <p:cNvSpPr txBox="1">
            <a:spLocks/>
          </p:cNvSpPr>
          <p:nvPr/>
        </p:nvSpPr>
        <p:spPr bwMode="auto">
          <a:xfrm>
            <a:off x="457997" y="4293096"/>
            <a:ext cx="822960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sz="2400" b="1" kern="0" dirty="0" err="1"/>
              <a:t>Belt</a:t>
            </a:r>
            <a:endParaRPr lang="pt-BR" sz="2400" b="1" kern="0" dirty="0"/>
          </a:p>
          <a:p>
            <a:pPr>
              <a:buFontTx/>
              <a:buChar char="-"/>
            </a:pPr>
            <a:r>
              <a:rPr lang="pt-BR" sz="2400" kern="0" dirty="0"/>
              <a:t>Tira e coloca o cinto;</a:t>
            </a:r>
          </a:p>
          <a:p>
            <a:pPr>
              <a:buFontTx/>
              <a:buChar char="-"/>
            </a:pPr>
            <a:r>
              <a:rPr lang="pt-BR" sz="2400" kern="0" dirty="0"/>
              <a:t>Toca o som caso esteja sem o cinto;</a:t>
            </a:r>
          </a:p>
        </p:txBody>
      </p:sp>
    </p:spTree>
    <p:extLst>
      <p:ext uri="{BB962C8B-B14F-4D97-AF65-F5344CB8AC3E}">
        <p14:creationId xmlns:p14="http://schemas.microsoft.com/office/powerpoint/2010/main" val="3321478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967C-3759-AE75-960A-208E35A3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F11A4-1FBF-7E28-0973-EA519A78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00E73BA-E8D3-2499-BFAA-F2E1162949C2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pt-BR" sz="2400" kern="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95EE6F2-4AB7-9ED0-10F2-BA2A9102B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080120"/>
          </a:xfrm>
        </p:spPr>
        <p:txBody>
          <a:bodyPr/>
          <a:lstStyle/>
          <a:p>
            <a:r>
              <a:rPr lang="pt-BR" sz="2400" b="1" dirty="0" err="1"/>
              <a:t>FuelScript</a:t>
            </a:r>
            <a:r>
              <a:rPr lang="pt-BR" sz="2400" b="1" dirty="0"/>
              <a:t> </a:t>
            </a:r>
          </a:p>
          <a:p>
            <a:pPr marL="0" indent="0">
              <a:buNone/>
            </a:pPr>
            <a:r>
              <a:rPr lang="pt-BR" sz="1800" b="1" dirty="0"/>
              <a:t>- Abastece o carro</a:t>
            </a:r>
          </a:p>
        </p:txBody>
      </p:sp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4FD6884F-3815-39DB-2CD3-59F9DB5E0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80" y="2204864"/>
            <a:ext cx="8407727" cy="349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74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C7981EE-5046-BD21-2600-52CEDFB94C9E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Seção Perfil do usuário</a:t>
            </a:r>
          </a:p>
        </p:txBody>
      </p:sp>
      <p:pic>
        <p:nvPicPr>
          <p:cNvPr id="7" name="Imagem 6" descr="Tabela&#10;&#10;Descrição gerada automaticamente">
            <a:extLst>
              <a:ext uri="{FF2B5EF4-FFF2-40B4-BE49-F238E27FC236}">
                <a16:creationId xmlns:a16="http://schemas.microsoft.com/office/drawing/2014/main" id="{052F29D7-B861-1497-D45A-C6EEE95BF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89505"/>
            <a:ext cx="8424936" cy="3033393"/>
          </a:xfrm>
          <a:prstGeom prst="rect">
            <a:avLst/>
          </a:prstGeom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E34B1C67-F19A-235A-2E56-465624DDE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219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51AE-3F2C-7C25-CC57-79F26460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2C7C0-7D7C-FA81-8C8F-81874781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45A575D-AEEF-856D-55E4-41767441A1CD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Seção de usabilidade jogo</a:t>
            </a:r>
          </a:p>
        </p:txBody>
      </p:sp>
      <p:pic>
        <p:nvPicPr>
          <p:cNvPr id="9" name="Imagem 8" descr="Tabela&#10;&#10;Descrição gerada automaticamente">
            <a:extLst>
              <a:ext uri="{FF2B5EF4-FFF2-40B4-BE49-F238E27FC236}">
                <a16:creationId xmlns:a16="http://schemas.microsoft.com/office/drawing/2014/main" id="{D881949C-4290-84F8-975D-4507488E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35" y="1412776"/>
            <a:ext cx="6788343" cy="487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78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6B19-A1EF-312D-53F0-E48E740E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475CF-F067-656C-B71A-90399266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5BF52F2-2C09-279D-0043-44A0013B33F9}"/>
              </a:ext>
            </a:extLst>
          </p:cNvPr>
          <p:cNvSpPr txBox="1">
            <a:spLocks/>
          </p:cNvSpPr>
          <p:nvPr/>
        </p:nvSpPr>
        <p:spPr bwMode="auto">
          <a:xfrm>
            <a:off x="467544" y="908720"/>
            <a:ext cx="8229600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BR" sz="2400" kern="0" dirty="0"/>
              <a:t>Seção de Avaliação do jogo</a:t>
            </a: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1DE64D5C-0A7B-FCD6-876A-3D2441900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6" y="1554009"/>
            <a:ext cx="7406848" cy="431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71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 e Sugestões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Objetivos e resultados;</a:t>
            </a:r>
          </a:p>
          <a:p>
            <a:r>
              <a:rPr lang="pt-BR" dirty="0"/>
              <a:t>Unity e </a:t>
            </a:r>
            <a:r>
              <a:rPr lang="pt-BR" dirty="0" err="1"/>
              <a:t>Vuforia</a:t>
            </a:r>
            <a:r>
              <a:rPr lang="pt-BR" dirty="0"/>
              <a:t>;</a:t>
            </a:r>
          </a:p>
          <a:p>
            <a:r>
              <a:rPr lang="pt-BR" dirty="0"/>
              <a:t>Contribuição social</a:t>
            </a:r>
          </a:p>
          <a:p>
            <a:r>
              <a:rPr lang="pt-BR" dirty="0"/>
              <a:t>Acessibilidade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353909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642</Words>
  <Application>Microsoft Office PowerPoint</Application>
  <PresentationFormat>Apresentação na tela (4:3)</PresentationFormat>
  <Paragraphs>135</Paragraphs>
  <Slides>26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Aptos</vt:lpstr>
      <vt:lpstr>Arial</vt:lpstr>
      <vt:lpstr>Times New Roman</vt:lpstr>
      <vt:lpstr>Design padrão</vt:lpstr>
      <vt:lpstr>APLICATIVO DE CONSCIENTIZAÇÃO NO TRÂNSITO UTILIZANDO REALIDADE AUMENTADA</vt:lpstr>
      <vt:lpstr>Roteiro</vt:lpstr>
      <vt:lpstr>Introdução</vt:lpstr>
      <vt:lpstr>Objetivos</vt:lpstr>
      <vt:lpstr>Fundamentação Teórica</vt:lpstr>
      <vt:lpstr>Fundamentação Teórica</vt:lpstr>
      <vt:lpstr>Fundamentação Teórica</vt:lpstr>
      <vt:lpstr>Trabalhos Correlatos 1/4</vt:lpstr>
      <vt:lpstr>Trabalhos Correlatos 2/4</vt:lpstr>
      <vt:lpstr>Trabalhos Correlatos 3/4</vt:lpstr>
      <vt:lpstr>Trabalhos Correlatos 4/4</vt:lpstr>
      <vt:lpstr>Requisitos</vt:lpstr>
      <vt:lpstr>Requisitos</vt:lpstr>
      <vt:lpstr>Especificação</vt:lpstr>
      <vt:lpstr>Especificação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Implementação</vt:lpstr>
      <vt:lpstr>Análise dos Resultados</vt:lpstr>
      <vt:lpstr>Análise dos Resultados</vt:lpstr>
      <vt:lpstr>Análise dos Resultados</vt:lpstr>
      <vt:lpstr>Conclusões e Sugestões</vt:lpstr>
    </vt:vector>
  </TitlesOfParts>
  <Company>FURB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Seção de Apoio ao Usuário</dc:creator>
  <cp:lastModifiedBy>Gabriel Mori</cp:lastModifiedBy>
  <cp:revision>103</cp:revision>
  <dcterms:created xsi:type="dcterms:W3CDTF">2012-05-08T00:10:24Z</dcterms:created>
  <dcterms:modified xsi:type="dcterms:W3CDTF">2024-12-09T04:26:26Z</dcterms:modified>
</cp:coreProperties>
</file>